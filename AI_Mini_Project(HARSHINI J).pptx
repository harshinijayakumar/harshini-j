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9" r:id="rId4"/>
    <p:sldId id="263" r:id="rId5"/>
    <p:sldId id="258" r:id="rId6"/>
    <p:sldId id="260" r:id="rId7"/>
    <p:sldId id="264" r:id="rId8"/>
    <p:sldId id="261" r:id="rId9"/>
    <p:sldId id="265" r:id="rId10"/>
    <p:sldId id="262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EF56DB-6447-4E9A-8D0B-327B958AB26D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476D98-D61B-4655-9F07-885518B2E1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51794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42F0ED-5252-4C0D-3BA2-BA6ECDF907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F6E366-4DE2-8E81-1DC3-0AEE197AF6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C19ECA-A45F-0986-41DE-E73470F3D0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A8A127-BB09-41A4-B1CB-CF09F8E9604A}" type="datetime1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6DC80E-2DDD-1136-4BC6-B4406DBF7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C6432E-64B5-4716-F794-CD0C848FE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4283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275F44-3844-F881-3DC9-E55F3A5BB2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B5DD6E-70DC-EC37-F363-8CA0371D48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884CC4-4338-D905-6FCE-6141610CE9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9C543-C1A5-4BB5-A80B-9531F5C51CEB}" type="datetime1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46F4CB-E19E-BF21-CA04-20FBF9E0B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C561CA-A7D9-921E-283C-D2D26EC9D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53828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9F0DB8-4328-6842-4C20-194E16496B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C16DD-B055-C373-DB9C-1095E3A7F6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308B3A-5B20-B104-4DC9-F294FE85DC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B2ABE-BEC8-4A12-8AF2-3E9347C9F9C5}" type="datetime1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2F6EF1-C2BF-E0B8-5AD2-1E80894A92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3C3E5B-79C1-F551-EB78-424972E416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2975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4FA2CF-D4B2-C0EA-7D8B-9997981DFC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8EC816-FAB0-61B5-B8A9-3CEEDE3AC6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888030-9606-40F3-F568-569861E67B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26BC2E-18CA-513E-BBD3-A4A6A4682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7CA91-FD83-4EFE-93EA-63992C03614F}" type="datetime1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10C424-8EE7-DCF3-92CA-9943CA217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B02771-6578-A3F3-2DE5-957F26935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65012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3A56EB-15F3-DA5A-FC5F-C8A9854DFC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4F55B3-769C-0F68-56E4-09A31651F0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9390E3-482E-14E5-E93E-3EFDFCA024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A5F7FD4-A0A2-100E-247B-0439DA6A8E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AB19785-7F9E-F7E7-9989-FBA2A2436A0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99BF4CB-4B11-6795-84C1-91B139428A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6C43A-13E2-48A2-BAE5-CC73887FC199}" type="datetime1">
              <a:rPr lang="en-US" smtClean="0"/>
              <a:t>11/4/2025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52FCB82-5972-D333-E21C-DF24F6BCF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F12211A-324E-9069-32B0-8F509730AD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0882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40A965-A2B0-80BB-C6BA-CCCFA272A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F0A2016-FBBB-4A1F-6F9E-FE6A63DE48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2C5D3-416C-4131-8BC9-E71DA97D5A64}" type="datetime1">
              <a:rPr lang="en-US" smtClean="0"/>
              <a:t>11/4/2025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E845DF-F961-5466-32C3-C6385060CC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E057F6-928A-6D9F-4161-C04DEAA83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59743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DB366D7-6680-4FD6-C029-DC5C0BB235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71593-8386-48B7-BB85-87C0949B2086}" type="datetime1">
              <a:rPr lang="en-US" smtClean="0"/>
              <a:t>11/4/2025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4179984-8567-91CB-0310-29A3752B78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2C7A0D-606C-3BF9-8DBE-908D80966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3762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C684C1-8596-31A1-180D-C7EC5332BB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3762C2-B7CC-ADA3-9D39-3541B3FE5A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35A5F9-7E68-401F-C3BB-09FB74F82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5F73E6-ECB8-2943-41D8-05812D848A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0F398-88D3-4D2F-9F7E-785BF8AD0274}" type="datetime1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6B5AF7-95CA-05D2-1119-F667C7B6F8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599C23-C916-AE53-9371-42CF3819D0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49913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B9AC56-39A4-2278-722C-617F9F770A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1FAD1B2-1942-74FB-C400-0DB0C13B90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DA8F38-E9BE-47E4-7662-3CD4AECCB2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28AE0B-2CCA-EDA3-1B80-8F2E1DF84C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1A94C1-07AC-4775-8A4F-70BB05306BF7}" type="datetime1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DB1342-9AFD-57F0-2E90-76ECCEAFA3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E180B8-E20A-6138-1A1C-1E980CAD4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94942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F050B6-05B4-E3FE-22C0-B823946C34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34B519-CE0F-EF5E-0363-067F1B0DB1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E2CA70-5E41-1433-D1D4-58B7EECA7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BF149-3A71-4B38-9BDE-7A4D7C7AB1AD}" type="datetime1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27E013-1DD3-69EC-2DB2-F95CD34915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12FAA7-8459-22BB-DD92-45D2DCDBB7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2190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665F096-56EB-9C2E-FB81-FEE0A0CAD9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2D9855-6F39-E67A-6BE9-0AC527E972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C113E1-9951-703E-A152-D5CEEC0EED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15CF1-83E4-4056-B983-BD617F30DAFA}" type="datetime1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463D87-637E-E53B-45EF-5E53B2925E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5677AB-ED08-1C04-AEC4-B8B3B85BC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64240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34DB59C-E06D-9064-D0E9-EE878347C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3B2644-B987-EA40-64D1-C253A45B0A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BC9483-BDE6-AF2E-5EF6-5FD8C63DA8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FA37CB-3111-4E43-978B-840B0C3E984E}" type="datetime1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345DA1-9E37-8BE4-5FD8-3086239736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C78D0E-8A6B-A368-9312-1F3C29DDBA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5271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realpython.com/python-sudoku-solver/" TargetMode="External"/><Relationship Id="rId2" Type="http://schemas.openxmlformats.org/officeDocument/2006/relationships/hyperlink" Target="https://www.geeksforgeeks.org/sudoku-backtracking-7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towardsdatascience.com/solving-sudoku-with-backtracking-196e2f0c31d6" TargetMode="External"/><Relationship Id="rId4" Type="http://schemas.openxmlformats.org/officeDocument/2006/relationships/hyperlink" Target="https://docs.python.org/3/library/tkinter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7F15FA6-086D-491A-B175-0CA4656FBDCB}"/>
              </a:ext>
            </a:extLst>
          </p:cNvPr>
          <p:cNvPicPr/>
          <p:nvPr/>
        </p:nvPicPr>
        <p:blipFill>
          <a:blip r:embed="rId2" cstate="print"/>
          <a:srcRect l="21229" t="27213" r="21523" b="35253"/>
          <a:stretch>
            <a:fillRect/>
          </a:stretch>
        </p:blipFill>
        <p:spPr bwMode="auto">
          <a:xfrm>
            <a:off x="3256548" y="136525"/>
            <a:ext cx="4776536" cy="834189"/>
          </a:xfrm>
          <a:prstGeom prst="rect">
            <a:avLst/>
          </a:prstGeom>
          <a:ln>
            <a:headEnd/>
            <a:tailEnd type="none" w="med" len="med"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5BEE647A-5606-A6E5-93DB-A43A8FC2D8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3138" y="1251284"/>
            <a:ext cx="10812378" cy="2458586"/>
          </a:xfrm>
        </p:spPr>
        <p:txBody>
          <a:bodyPr>
            <a:noAutofit/>
          </a:bodyPr>
          <a:lstStyle/>
          <a:p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</a:t>
            </a:r>
            <a:br>
              <a:rPr lang="en-GB" sz="2400" b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CSE (ARTIFICIAL </a:t>
            </a: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INTELLIGENCE </a:t>
            </a:r>
            <a:r>
              <a:rPr lang="en-GB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AND MACHINE LEARNING)</a:t>
            </a:r>
            <a:b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ACADEMIC YEAR 2025 - 2026</a:t>
            </a:r>
            <a:b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SEMESTER III</a:t>
            </a:r>
            <a:b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ARTIFICIAL INTELLIGENCE LABORATORY</a:t>
            </a:r>
            <a:b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GB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MINI PROJECT REVIEW</a:t>
            </a:r>
            <a:r>
              <a:rPr lang="en-GB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br>
              <a:rPr lang="en-GB" sz="24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SUDOKU</a:t>
            </a:r>
            <a:r>
              <a:rPr lang="en-GB" sz="2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SOLVER USING BACKTRACKING </a:t>
            </a:r>
            <a:r>
              <a:rPr lang="en-GB" sz="2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ALGORITHM</a:t>
            </a:r>
            <a:endParaRPr lang="en-US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B39E0012-B3AF-E718-6BBA-5D37629E40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5631421"/>
              </p:ext>
            </p:extLst>
          </p:nvPr>
        </p:nvGraphicFramePr>
        <p:xfrm>
          <a:off x="2098841" y="3845961"/>
          <a:ext cx="8392696" cy="2458586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216485">
                  <a:extLst>
                    <a:ext uri="{9D8B030D-6E8A-4147-A177-3AD203B41FA5}">
                      <a16:colId xmlns:a16="http://schemas.microsoft.com/office/drawing/2014/main" val="1924387309"/>
                    </a:ext>
                  </a:extLst>
                </a:gridCol>
                <a:gridCol w="6176211">
                  <a:extLst>
                    <a:ext uri="{9D8B030D-6E8A-4147-A177-3AD203B41FA5}">
                      <a16:colId xmlns:a16="http://schemas.microsoft.com/office/drawing/2014/main" val="471423325"/>
                    </a:ext>
                  </a:extLst>
                </a:gridCol>
              </a:tblGrid>
              <a:tr h="486314">
                <a:tc>
                  <a:txBody>
                    <a:bodyPr/>
                    <a:lstStyle/>
                    <a:p>
                      <a:r>
                        <a:rPr lang="en-GB" b="1" dirty="0">
                          <a:solidFill>
                            <a:schemeClr val="tx1"/>
                          </a:solidFill>
                        </a:rPr>
                        <a:t>REGISTER NUMBER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2117240030045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1703413"/>
                  </a:ext>
                </a:extLst>
              </a:tr>
              <a:tr h="493068">
                <a:tc>
                  <a:txBody>
                    <a:bodyPr/>
                    <a:lstStyle/>
                    <a:p>
                      <a:r>
                        <a:rPr lang="en-GB" b="1" dirty="0">
                          <a:solidFill>
                            <a:schemeClr val="tx1"/>
                          </a:solidFill>
                        </a:rPr>
                        <a:t>NAME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HARSHINI J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7366592"/>
                  </a:ext>
                </a:extLst>
              </a:tr>
              <a:tr h="493068">
                <a:tc>
                  <a:txBody>
                    <a:bodyPr/>
                    <a:lstStyle/>
                    <a:p>
                      <a:r>
                        <a:rPr lang="en-GB" b="1" dirty="0">
                          <a:solidFill>
                            <a:schemeClr val="tx1"/>
                          </a:solidFill>
                        </a:rPr>
                        <a:t>YEAR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6965190"/>
                  </a:ext>
                </a:extLst>
              </a:tr>
              <a:tr h="493068">
                <a:tc>
                  <a:txBody>
                    <a:bodyPr/>
                    <a:lstStyle/>
                    <a:p>
                      <a:r>
                        <a:rPr lang="en-GB" b="1" dirty="0">
                          <a:solidFill>
                            <a:schemeClr val="tx1"/>
                          </a:solidFill>
                        </a:rPr>
                        <a:t>SECTION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4068443"/>
                  </a:ext>
                </a:extLst>
              </a:tr>
              <a:tr h="493068">
                <a:tc>
                  <a:txBody>
                    <a:bodyPr/>
                    <a:lstStyle/>
                    <a:p>
                      <a:r>
                        <a:rPr lang="en-GB" b="1" dirty="0">
                          <a:solidFill>
                            <a:schemeClr val="tx1"/>
                          </a:solidFill>
                        </a:rPr>
                        <a:t>FACULTY IN-CHARGE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1" dirty="0"/>
                        <a:t>Mrs. M. Divya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6199969"/>
                  </a:ext>
                </a:extLst>
              </a:tr>
            </a:tbl>
          </a:graphicData>
        </a:graphic>
      </p:graphicFrame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6B174A57-15CE-2FFD-86D9-B7E8469248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B0B098-7844-408D-9BB3-6B083FBEE8AA}" type="datetime1">
              <a:rPr lang="en-US" smtClean="0"/>
              <a:t>11/4/2025</a:t>
            </a:fld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4873981-939E-932D-DBE2-6B02CC92B8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07938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3E759A-0732-65F8-ABFC-93E81441B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5509"/>
            <a:ext cx="12192000" cy="645528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PROBLEM STATEMENT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E17474-C476-1051-3F37-A2159E2BEE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18148"/>
            <a:ext cx="10515600" cy="5358816"/>
          </a:xfrm>
        </p:spPr>
        <p:txBody>
          <a:bodyPr>
            <a:normAutofit/>
          </a:bodyPr>
          <a:lstStyle/>
          <a:p>
            <a:pPr lvl="0"/>
            <a:r>
              <a:rPr lang="en-US" sz="2000" dirty="0"/>
              <a:t>Artificial Intelligence (AI) can be applied to </a:t>
            </a:r>
            <a:r>
              <a:rPr lang="en-US" sz="2000" b="1" dirty="0"/>
              <a:t>constraint satisfaction problems</a:t>
            </a:r>
            <a:r>
              <a:rPr lang="en-US" sz="2000" dirty="0"/>
              <a:t>, where solutions must satisfy specific rules.</a:t>
            </a:r>
          </a:p>
          <a:p>
            <a:pPr lvl="0"/>
            <a:r>
              <a:rPr lang="en-US" sz="2000" dirty="0"/>
              <a:t>In this project, a </a:t>
            </a:r>
            <a:r>
              <a:rPr lang="en-US" sz="2000" b="1" dirty="0"/>
              <a:t>Sudoku-solving problem</a:t>
            </a:r>
            <a:r>
              <a:rPr lang="en-US" sz="2000" dirty="0"/>
              <a:t> is addressed using the </a:t>
            </a:r>
            <a:r>
              <a:rPr lang="en-US" sz="2000" b="1" dirty="0"/>
              <a:t>Backtracking algorithm</a:t>
            </a:r>
            <a:r>
              <a:rPr lang="en-US" sz="2000" dirty="0"/>
              <a:t>, which systematically explores possible number placements and backtracks when a dead-end occurs.</a:t>
            </a:r>
          </a:p>
          <a:p>
            <a:pPr lvl="0"/>
            <a:r>
              <a:rPr lang="en-US" sz="2000" dirty="0"/>
              <a:t>The project demonstrates how AI techniques can be used for </a:t>
            </a:r>
            <a:r>
              <a:rPr lang="en-US" sz="2000" b="1" dirty="0"/>
              <a:t>decision-making and problem-solving</a:t>
            </a:r>
            <a:r>
              <a:rPr lang="en-US" sz="2000" dirty="0"/>
              <a:t> in constrained environments like Sudoku.</a:t>
            </a:r>
          </a:p>
          <a:p>
            <a:pPr lvl="0"/>
            <a:r>
              <a:rPr lang="en-US" sz="2000" dirty="0"/>
              <a:t>The task is to </a:t>
            </a:r>
            <a:r>
              <a:rPr lang="en-US" sz="2000" b="1" dirty="0"/>
              <a:t>fill empty cells</a:t>
            </a:r>
            <a:r>
              <a:rPr lang="en-US" sz="2000" dirty="0"/>
              <a:t> in a partially completed 9×9 Sudoku grid while ensuring that all rows, columns, and 3×3 </a:t>
            </a:r>
            <a:r>
              <a:rPr lang="en-US" sz="2000" dirty="0" err="1"/>
              <a:t>subgrids</a:t>
            </a:r>
            <a:r>
              <a:rPr lang="en-US" sz="2000" dirty="0"/>
              <a:t> contain numbers 1–9 without repetition.</a:t>
            </a:r>
          </a:p>
          <a:p>
            <a:pPr lvl="0"/>
            <a:r>
              <a:rPr lang="en-US" sz="2000" dirty="0"/>
              <a:t>The problem highlights the need for </a:t>
            </a:r>
            <a:r>
              <a:rPr lang="en-US" sz="2000" b="1" dirty="0"/>
              <a:t>intelligent search strategies</a:t>
            </a:r>
            <a:r>
              <a:rPr lang="en-US" sz="2000" dirty="0"/>
              <a:t> that efficiently explore possibilities and guarantee a valid solution for solvable puzzles.</a:t>
            </a:r>
          </a:p>
          <a:p>
            <a:pPr lvl="0"/>
            <a:r>
              <a:rPr lang="en-US" sz="2000" dirty="0"/>
              <a:t>To design and implement an algorithm capable of </a:t>
            </a:r>
            <a:r>
              <a:rPr lang="en-US" sz="2000" b="1" dirty="0"/>
              <a:t>solving any given Sudoku puzzle</a:t>
            </a:r>
            <a:r>
              <a:rPr lang="en-US" sz="2000" dirty="0"/>
              <a:t> using backtracking.</a:t>
            </a:r>
          </a:p>
          <a:p>
            <a:pPr lvl="0"/>
            <a:r>
              <a:rPr lang="en-US" sz="2000" dirty="0"/>
              <a:t>To provide a </a:t>
            </a:r>
            <a:r>
              <a:rPr lang="en-US" sz="2000" b="1" dirty="0"/>
              <a:t>graphical user interface (GUI)</a:t>
            </a:r>
            <a:r>
              <a:rPr lang="en-US" sz="2000" dirty="0"/>
              <a:t> in Python for entering puzzles, visualizing the solution, and interacting with the grid.</a:t>
            </a:r>
          </a:p>
          <a:p>
            <a:r>
              <a:rPr lang="en-US" sz="2000" dirty="0"/>
              <a:t>To </a:t>
            </a:r>
            <a:r>
              <a:rPr lang="en-US" sz="2000" b="1" dirty="0"/>
              <a:t>handle invalid or unsolvable puzzles</a:t>
            </a:r>
            <a:r>
              <a:rPr lang="en-US" sz="2000" dirty="0"/>
              <a:t> appropriately, alerting the user when no solution exists.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FF5BCC-B36E-DFE5-103F-31FA126320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FBEDF-053F-468F-8CCF-D1ACE4FBB50D}" type="datetime1">
              <a:rPr lang="en-US" smtClean="0"/>
              <a:t>11/4/2025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253399-F526-B4B1-D444-32B3A164A3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66147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ACC068-5F54-97E8-2F1C-0538F11269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B2B1AF-B7ED-6DDA-888D-9BCAF08EA5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5509"/>
            <a:ext cx="12192000" cy="645528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THEORETICAL BACKGROUND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67243E-1300-82BE-9968-6837E801AF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94734"/>
            <a:ext cx="10515600" cy="5282229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endParaRPr lang="en-US" dirty="0"/>
          </a:p>
          <a:p>
            <a:pPr lvl="1"/>
            <a:r>
              <a:rPr lang="en-US" sz="2000" b="1" dirty="0"/>
              <a:t>Sudoku solving</a:t>
            </a:r>
            <a:r>
              <a:rPr lang="en-US" sz="2000" dirty="0"/>
              <a:t> is a </a:t>
            </a:r>
            <a:r>
              <a:rPr lang="en-US" sz="2000" b="1" dirty="0"/>
              <a:t>constraint satisfaction problem</a:t>
            </a:r>
            <a:r>
              <a:rPr lang="en-US" sz="2000" dirty="0"/>
              <a:t> where each cell in the 9×9 grid is treated as a state.</a:t>
            </a:r>
            <a:endParaRPr lang="en-IN" sz="2000" dirty="0"/>
          </a:p>
          <a:p>
            <a:pPr lvl="1"/>
            <a:r>
              <a:rPr lang="en-US" sz="2000" b="1" dirty="0"/>
              <a:t>Backtracking Algorithm</a:t>
            </a:r>
            <a:r>
              <a:rPr lang="en-US" sz="2000" dirty="0"/>
              <a:t> is commonly used for solving Sudoku.</a:t>
            </a:r>
            <a:r>
              <a:rPr lang="en-US" sz="1800" dirty="0"/>
              <a:t>.</a:t>
            </a:r>
          </a:p>
          <a:p>
            <a:pPr lvl="1"/>
            <a:r>
              <a:rPr lang="en-IN" sz="2000" dirty="0"/>
              <a:t>It fills an empty cell with numbers </a:t>
            </a:r>
            <a:r>
              <a:rPr lang="en-IN" sz="2000" b="1" dirty="0"/>
              <a:t>1–9</a:t>
            </a:r>
            <a:r>
              <a:rPr lang="en-IN" sz="2000" dirty="0"/>
              <a:t> and checks </a:t>
            </a:r>
            <a:r>
              <a:rPr lang="en-IN" sz="2000" b="1" dirty="0"/>
              <a:t>row, column, and 3×3 </a:t>
            </a:r>
            <a:r>
              <a:rPr lang="en-IN" sz="2000" b="1" dirty="0" err="1"/>
              <a:t>subgrid</a:t>
            </a:r>
            <a:r>
              <a:rPr lang="en-IN" sz="2000" b="1" dirty="0"/>
              <a:t> constraints</a:t>
            </a:r>
            <a:r>
              <a:rPr lang="en-US" sz="2000" dirty="0"/>
              <a:t>.</a:t>
            </a:r>
            <a:endParaRPr lang="en-IN" sz="2000" dirty="0"/>
          </a:p>
          <a:p>
            <a:pPr lvl="1"/>
            <a:r>
              <a:rPr lang="en-US" sz="2000" dirty="0"/>
              <a:t> The algorithm </a:t>
            </a:r>
            <a:r>
              <a:rPr lang="en-US" sz="2000" b="1" dirty="0"/>
              <a:t>recursively explores</a:t>
            </a:r>
            <a:r>
              <a:rPr lang="en-US" sz="2000" dirty="0"/>
              <a:t> the next empty cell and </a:t>
            </a:r>
            <a:r>
              <a:rPr lang="en-US" sz="2000" b="1" dirty="0"/>
              <a:t>backtracks</a:t>
            </a:r>
            <a:r>
              <a:rPr lang="en-US" sz="2000" dirty="0"/>
              <a:t> if a contradiction occurs.</a:t>
            </a:r>
            <a:endParaRPr lang="en-IN" sz="2000" dirty="0"/>
          </a:p>
          <a:p>
            <a:pPr lvl="1"/>
            <a:r>
              <a:rPr lang="en-US" sz="2000" dirty="0"/>
              <a:t>The advantages are Simple, efficient, and guarantees a solution for </a:t>
            </a:r>
            <a:r>
              <a:rPr lang="en-US" sz="2000" b="1" dirty="0"/>
              <a:t>valid 9×9 grids.</a:t>
            </a:r>
            <a:endParaRPr lang="en-US" sz="2000" dirty="0"/>
          </a:p>
          <a:p>
            <a:pPr lvl="1"/>
            <a:r>
              <a:rPr lang="en-US" sz="2000" dirty="0"/>
              <a:t>Alternative approaches are Constraint Propagation and Stochastic Search (Simulated Annealing).</a:t>
            </a:r>
          </a:p>
          <a:p>
            <a:pPr lvl="1"/>
            <a:r>
              <a:rPr lang="en-US" sz="2000" b="1" dirty="0"/>
              <a:t>Justification:</a:t>
            </a:r>
            <a:r>
              <a:rPr lang="en-US" sz="2000" dirty="0"/>
              <a:t> Backtracking is chosen because it is </a:t>
            </a:r>
            <a:r>
              <a:rPr lang="en-US" sz="2000" b="1" dirty="0"/>
              <a:t>simple, efficient, deterministic, and guarantees a solution</a:t>
            </a:r>
            <a:r>
              <a:rPr lang="en-US" sz="2000" dirty="0"/>
              <a:t> for standard 9×9 Sudoku grids, making it ideal for small to medium-sized puzzles.</a:t>
            </a:r>
            <a:endParaRPr lang="en-IN" sz="2000" dirty="0"/>
          </a:p>
          <a:p>
            <a:pPr lvl="1"/>
            <a:endParaRPr lang="en-IN" sz="20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F593AB-ABA6-D8E8-42D9-A38FB7B4DB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FBEDF-053F-468F-8CCF-D1ACE4FBB50D}" type="datetime1">
              <a:rPr lang="en-US" smtClean="0"/>
              <a:t>11/4/2025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AE40CC-B05F-6325-A926-99504CD4A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26923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2C435A-10F7-BFC5-00EC-58E40C4456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F62645-36EF-8091-6776-B59E845FD3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5509"/>
            <a:ext cx="12192000" cy="645528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THEORETICAL BACKGROUND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3F1624-D8B0-39D8-1C6F-BCD4B3C020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18148"/>
            <a:ext cx="10515600" cy="5358816"/>
          </a:xfrm>
        </p:spPr>
        <p:txBody>
          <a:bodyPr>
            <a:normAutofit fontScale="70000" lnSpcReduction="20000"/>
          </a:bodyPr>
          <a:lstStyle/>
          <a:p>
            <a:pPr marL="457200" lvl="1" indent="0">
              <a:buNone/>
            </a:pPr>
            <a:endParaRPr lang="en-US" dirty="0"/>
          </a:p>
          <a:p>
            <a:pPr marL="0" lvl="0" indent="0">
              <a:buNone/>
            </a:pPr>
            <a:r>
              <a:rPr lang="en-US" sz="2400" b="1" u="sng" dirty="0"/>
              <a:t>ALGORITHM</a:t>
            </a:r>
          </a:p>
          <a:p>
            <a:pPr lvl="0"/>
            <a:r>
              <a:rPr lang="en-US" dirty="0"/>
              <a:t>Initialize a 9×9 Sudoku grid with given numbers, using 0 to represent empty cells.</a:t>
            </a:r>
          </a:p>
          <a:p>
            <a:pPr lvl="0"/>
            <a:r>
              <a:rPr lang="en-US" dirty="0"/>
              <a:t>Display the grid using </a:t>
            </a:r>
            <a:r>
              <a:rPr lang="en-US" b="1" dirty="0" err="1"/>
              <a:t>Tkinter</a:t>
            </a:r>
            <a:r>
              <a:rPr lang="en-US" dirty="0"/>
              <a:t> entry boxes, where pre-filled numbers are </a:t>
            </a:r>
            <a:r>
              <a:rPr lang="en-US" dirty="0" err="1"/>
              <a:t>uneditable</a:t>
            </a:r>
            <a:r>
              <a:rPr lang="en-US" dirty="0"/>
              <a:t>.</a:t>
            </a:r>
          </a:p>
          <a:p>
            <a:pPr lvl="0"/>
            <a:r>
              <a:rPr lang="en-US" dirty="0"/>
              <a:t>Scan the grid to find the </a:t>
            </a:r>
            <a:r>
              <a:rPr lang="en-US" b="1" dirty="0"/>
              <a:t>first empty cell</a:t>
            </a:r>
            <a:r>
              <a:rPr lang="en-US" dirty="0"/>
              <a:t> (a cell containing 0).</a:t>
            </a:r>
          </a:p>
          <a:p>
            <a:pPr lvl="0"/>
            <a:r>
              <a:rPr lang="en-US" dirty="0"/>
              <a:t>For that empty cell, </a:t>
            </a:r>
            <a:r>
              <a:rPr lang="en-US" b="1" dirty="0"/>
              <a:t>try placing numbers 1 to 9</a:t>
            </a:r>
            <a:r>
              <a:rPr lang="en-US" dirty="0"/>
              <a:t> sequentially.</a:t>
            </a:r>
          </a:p>
          <a:p>
            <a:pPr lvl="0"/>
            <a:r>
              <a:rPr lang="en-US" dirty="0"/>
              <a:t>For each number, </a:t>
            </a:r>
            <a:r>
              <a:rPr lang="en-US" b="1" dirty="0"/>
              <a:t>check validity</a:t>
            </a:r>
            <a:r>
              <a:rPr lang="en-US" dirty="0"/>
              <a:t> using Sudoku rules — the number must not repeat in the same row, column, or 3×3 </a:t>
            </a:r>
            <a:r>
              <a:rPr lang="en-US" dirty="0" err="1"/>
              <a:t>subgrid</a:t>
            </a:r>
            <a:r>
              <a:rPr lang="en-US" dirty="0"/>
              <a:t>.</a:t>
            </a:r>
          </a:p>
          <a:p>
            <a:pPr lvl="0"/>
            <a:r>
              <a:rPr lang="en-US" dirty="0"/>
              <a:t>If the number is valid, </a:t>
            </a:r>
            <a:r>
              <a:rPr lang="en-US" b="1" dirty="0"/>
              <a:t>place it temporarily</a:t>
            </a:r>
            <a:r>
              <a:rPr lang="en-US" dirty="0"/>
              <a:t> in the current cell and </a:t>
            </a:r>
            <a:r>
              <a:rPr lang="en-US" b="1" dirty="0"/>
              <a:t>recursively solve</a:t>
            </a:r>
            <a:r>
              <a:rPr lang="en-US" dirty="0"/>
              <a:t> the remaining grid.</a:t>
            </a:r>
          </a:p>
          <a:p>
            <a:pPr lvl="0"/>
            <a:r>
              <a:rPr lang="en-US" dirty="0"/>
              <a:t>If a </a:t>
            </a:r>
            <a:r>
              <a:rPr lang="en-US" b="1" dirty="0"/>
              <a:t>dead end</a:t>
            </a:r>
            <a:r>
              <a:rPr lang="en-US" dirty="0"/>
              <a:t> is reached (no valid number fits), </a:t>
            </a:r>
            <a:r>
              <a:rPr lang="en-US" b="1" dirty="0"/>
              <a:t>backtrack</a:t>
            </a:r>
            <a:r>
              <a:rPr lang="en-US" dirty="0"/>
              <a:t> by resetting the cell to 0 and trying the next number.</a:t>
            </a:r>
          </a:p>
          <a:p>
            <a:pPr lvl="0"/>
            <a:r>
              <a:rPr lang="en-US" dirty="0"/>
              <a:t>Continue recursively until all cells are filled correctly, meaning the Sudoku is solved.</a:t>
            </a:r>
          </a:p>
          <a:p>
            <a:r>
              <a:rPr lang="en-US" dirty="0"/>
              <a:t>When the user clicks </a:t>
            </a:r>
            <a:r>
              <a:rPr lang="en-US" b="1" dirty="0"/>
              <a:t>“Solve Sudoku”</a:t>
            </a:r>
            <a:r>
              <a:rPr lang="en-US" dirty="0"/>
              <a:t>, read all values from the grid into a 2D list and tries to solve it using backtracking algorithm.</a:t>
            </a:r>
          </a:p>
          <a:p>
            <a:pPr lvl="0"/>
            <a:r>
              <a:rPr lang="en-US" dirty="0"/>
              <a:t>Once solved, update the GUI to display the completed grid and show a message saying </a:t>
            </a:r>
            <a:r>
              <a:rPr lang="en-US" b="1" dirty="0"/>
              <a:t>“Sudoku Solved Successfully!”</a:t>
            </a:r>
            <a:r>
              <a:rPr lang="en-US" dirty="0"/>
              <a:t>; otherwise, display </a:t>
            </a:r>
            <a:r>
              <a:rPr lang="en-US" b="1" dirty="0"/>
              <a:t>“No Solution Exists.”</a:t>
            </a:r>
            <a:endParaRPr lang="en-US" dirty="0"/>
          </a:p>
          <a:p>
            <a:pPr lvl="0"/>
            <a:endParaRPr lang="en-US" sz="24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F90121-F38D-D79C-3D65-B6D35C0C12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FBEDF-053F-468F-8CCF-D1ACE4FBB50D}" type="datetime1">
              <a:rPr lang="en-US" smtClean="0"/>
              <a:t>11/4/2025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EE3686-D39B-BA2A-7691-6B642EA984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72712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A34F6B-2294-8100-6428-71DD4A23A3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876350-5987-57CB-5096-A77DCA2009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6"/>
            <a:ext cx="12192000" cy="645528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IMPLEMENTATION AND CODE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29904C-7E5E-5862-ACA4-167CDBC504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67326"/>
            <a:ext cx="10515600" cy="4909637"/>
          </a:xfrm>
        </p:spPr>
        <p:txBody>
          <a:bodyPr/>
          <a:lstStyle/>
          <a:p>
            <a:r>
              <a:rPr lang="en-GB" dirty="0"/>
              <a:t>Link to code in Git-hub Repository</a:t>
            </a:r>
          </a:p>
          <a:p>
            <a:endParaRPr lang="en-GB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BC0E82-F7C5-E4B3-8BB9-1583AC631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80D13-07B8-4CF5-901F-BD1025D74351}" type="datetime1">
              <a:rPr lang="en-US" smtClean="0"/>
              <a:t>11/4/2025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775014-201C-1110-C957-46A30A1C2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5</a:t>
            </a:fld>
            <a:endParaRPr 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CDE9EAC-96DA-1FB7-EA39-187A024E6A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106257"/>
              </p:ext>
            </p:extLst>
          </p:nvPr>
        </p:nvGraphicFramePr>
        <p:xfrm>
          <a:off x="2032000" y="2408902"/>
          <a:ext cx="8999794" cy="11995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70710">
                  <a:extLst>
                    <a:ext uri="{9D8B030D-6E8A-4147-A177-3AD203B41FA5}">
                      <a16:colId xmlns:a16="http://schemas.microsoft.com/office/drawing/2014/main" val="1391983633"/>
                    </a:ext>
                  </a:extLst>
                </a:gridCol>
                <a:gridCol w="5329084">
                  <a:extLst>
                    <a:ext uri="{9D8B030D-6E8A-4147-A177-3AD203B41FA5}">
                      <a16:colId xmlns:a16="http://schemas.microsoft.com/office/drawing/2014/main" val="1413214934"/>
                    </a:ext>
                  </a:extLst>
                </a:gridCol>
              </a:tblGrid>
              <a:tr h="1199537">
                <a:tc>
                  <a:txBody>
                    <a:bodyPr/>
                    <a:lstStyle/>
                    <a:p>
                      <a:r>
                        <a:rPr lang="en-GB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report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711680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7FBC6078-AF91-1F9B-84F8-ECB37F7926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5969727"/>
              </p:ext>
            </p:extLst>
          </p:nvPr>
        </p:nvGraphicFramePr>
        <p:xfrm>
          <a:off x="5968182" y="2723535"/>
          <a:ext cx="4434347" cy="74000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434347">
                  <a:extLst>
                    <a:ext uri="{9D8B030D-6E8A-4147-A177-3AD203B41FA5}">
                      <a16:colId xmlns:a16="http://schemas.microsoft.com/office/drawing/2014/main" val="475511920"/>
                    </a:ext>
                  </a:extLst>
                </a:gridCol>
              </a:tblGrid>
              <a:tr h="740005">
                <a:tc>
                  <a:txBody>
                    <a:bodyPr/>
                    <a:lstStyle/>
                    <a:p>
                      <a:pPr marL="45720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kern="100" dirty="0">
                          <a:solidFill>
                            <a:schemeClr val="tx1"/>
                          </a:solidFill>
                          <a:effectLst/>
                        </a:rPr>
                        <a:t>https://github.com/HarshiniJayakumar/HARSHINI-J</a:t>
                      </a:r>
                      <a:endParaRPr lang="en-IN" sz="18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1983866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9DB6683D-B330-11BD-A370-D1DD86CB00FE}"/>
              </a:ext>
            </a:extLst>
          </p:cNvPr>
          <p:cNvSpPr txBox="1"/>
          <p:nvPr/>
        </p:nvSpPr>
        <p:spPr>
          <a:xfrm>
            <a:off x="2104103" y="2723535"/>
            <a:ext cx="33724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Git Hub Link of the project and report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195863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F55069-71B1-83F0-E5F5-B02F8F5772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358887-D4AD-6383-79D6-F528D34824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6"/>
            <a:ext cx="12192000" cy="645528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OUTPUT AND RESULTS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511744-1841-7314-5231-7CC4C07DDE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67326"/>
            <a:ext cx="10515600" cy="4909637"/>
          </a:xfrm>
        </p:spPr>
        <p:txBody>
          <a:bodyPr/>
          <a:lstStyle/>
          <a:p>
            <a:pPr lvl="0"/>
            <a:r>
              <a:rPr lang="en-US" sz="2000" dirty="0"/>
              <a:t>The program </a:t>
            </a:r>
            <a:r>
              <a:rPr lang="en-US" sz="2000" b="1" dirty="0"/>
              <a:t>opens a 9×9 Sudoku grid</a:t>
            </a:r>
            <a:r>
              <a:rPr lang="en-US" sz="2000" dirty="0"/>
              <a:t> with pre-filled numbers from the puzzle. Pre-filled numbers are displayed which are </a:t>
            </a:r>
            <a:r>
              <a:rPr lang="en-US" sz="2000" b="1" dirty="0" err="1"/>
              <a:t>uneditable</a:t>
            </a:r>
            <a:r>
              <a:rPr lang="en-US" sz="2000" dirty="0"/>
              <a:t>..</a:t>
            </a:r>
            <a:endParaRPr lang="en-IN" sz="2000" dirty="0"/>
          </a:p>
          <a:p>
            <a:pPr lvl="0"/>
            <a:r>
              <a:rPr lang="en-US" sz="2000" dirty="0"/>
              <a:t>Clicking the </a:t>
            </a:r>
            <a:r>
              <a:rPr lang="en-US" sz="2000" b="1" dirty="0"/>
              <a:t>“Solve Sudoku”</a:t>
            </a:r>
            <a:r>
              <a:rPr lang="en-US" sz="2000" dirty="0"/>
              <a:t> button runs the </a:t>
            </a:r>
            <a:r>
              <a:rPr lang="en-US" sz="2000" b="1" dirty="0"/>
              <a:t>backtracking algorithm</a:t>
            </a:r>
            <a:r>
              <a:rPr lang="en-US" sz="2000" dirty="0"/>
              <a:t> to fill in empty cells.</a:t>
            </a:r>
            <a:endParaRPr lang="en-IN" sz="2000" dirty="0"/>
          </a:p>
          <a:p>
            <a:pPr lvl="0"/>
            <a:r>
              <a:rPr lang="en-US" sz="2000" b="1" dirty="0"/>
              <a:t>Solved numbers</a:t>
            </a:r>
            <a:r>
              <a:rPr lang="en-US" sz="2000" dirty="0"/>
              <a:t> are displayed in the grid (currently in black, editable) while pre-filled numbers remain </a:t>
            </a:r>
            <a:r>
              <a:rPr lang="en-US" sz="2000" b="1" dirty="0"/>
              <a:t>locked</a:t>
            </a:r>
            <a:r>
              <a:rPr lang="en-US" b="1" dirty="0"/>
              <a:t>.</a:t>
            </a:r>
            <a:endParaRPr lang="en-IN" dirty="0"/>
          </a:p>
          <a:p>
            <a:pPr lvl="0"/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7BACE5-322B-3F55-2CA9-8E1D411702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80D13-07B8-4CF5-901F-BD1025D74351}" type="datetime1">
              <a:rPr lang="en-US" smtClean="0"/>
              <a:t>11/4/2025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D1AF6B-7EFE-60E0-2350-AE083D01AD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6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5230839-6C87-DF55-6D8E-ECA034026D4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70" r="1332" b="2141"/>
          <a:stretch>
            <a:fillRect/>
          </a:stretch>
        </p:blipFill>
        <p:spPr>
          <a:xfrm>
            <a:off x="2792360" y="3224982"/>
            <a:ext cx="3559279" cy="320865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6AA5D00-A859-74EC-5D52-76CAE9F9DD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6" r="1"/>
          <a:stretch>
            <a:fillRect/>
          </a:stretch>
        </p:blipFill>
        <p:spPr>
          <a:xfrm>
            <a:off x="6915784" y="3224982"/>
            <a:ext cx="3559279" cy="3208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52695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58E5AF-DA73-E1F9-355F-D1FD7D7BD9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D4E80F-0097-E9C3-7382-360052E7B9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6"/>
            <a:ext cx="12192000" cy="645528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/>
            <a:r>
              <a:rPr lang="en-GB" b="1">
                <a:solidFill>
                  <a:schemeClr val="tx1"/>
                </a:solidFill>
              </a:rPr>
              <a:t>OUTPUT AND RESULTS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81DD49-2B31-B5DE-1072-47D8565B39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67326"/>
            <a:ext cx="10515600" cy="4909637"/>
          </a:xfrm>
        </p:spPr>
        <p:txBody>
          <a:bodyPr>
            <a:normAutofit/>
          </a:bodyPr>
          <a:lstStyle/>
          <a:p>
            <a:r>
              <a:rPr lang="en-US" sz="2000" dirty="0"/>
              <a:t>If the puzzle is successfully solved, a </a:t>
            </a:r>
            <a:r>
              <a:rPr lang="en-US" sz="2000" b="1" dirty="0"/>
              <a:t>message box</a:t>
            </a:r>
            <a:r>
              <a:rPr lang="en-US" sz="2000" dirty="0"/>
              <a:t> appears:</a:t>
            </a:r>
            <a:br>
              <a:rPr lang="en-US" sz="2000" dirty="0"/>
            </a:br>
            <a:r>
              <a:rPr lang="en-US" sz="2000" b="1" dirty="0"/>
              <a:t>“Sudoku Solved Successfully!”</a:t>
            </a:r>
          </a:p>
          <a:p>
            <a:endParaRPr lang="en-US" sz="2000" b="1" dirty="0"/>
          </a:p>
          <a:p>
            <a:endParaRPr lang="en-US" sz="2000" b="1" dirty="0"/>
          </a:p>
          <a:p>
            <a:endParaRPr lang="en-US" sz="2000" b="1" dirty="0"/>
          </a:p>
          <a:p>
            <a:endParaRPr lang="en-US" sz="2200" dirty="0"/>
          </a:p>
          <a:p>
            <a:endParaRPr lang="en-US" sz="2200" dirty="0"/>
          </a:p>
          <a:p>
            <a:r>
              <a:rPr lang="en-US" sz="2200" b="1" dirty="0"/>
              <a:t> </a:t>
            </a:r>
            <a:r>
              <a:rPr lang="en-IN" sz="2000" dirty="0"/>
              <a:t>If the puzzle is unsolvable, a message box appears:</a:t>
            </a:r>
            <a:br>
              <a:rPr lang="en-IN" sz="2000" dirty="0"/>
            </a:br>
            <a:r>
              <a:rPr lang="en-IN" sz="2000" dirty="0"/>
              <a:t>“No solution exists!”</a:t>
            </a:r>
            <a:endParaRPr lang="en-US" sz="2200" dirty="0"/>
          </a:p>
          <a:p>
            <a:pPr lvl="0"/>
            <a:r>
              <a:rPr lang="en-IN" sz="2000" dirty="0"/>
              <a:t>The final grid clearly shows a complete and valid Sudoku solution, satisfying all row, column, and 3×3 </a:t>
            </a:r>
            <a:r>
              <a:rPr lang="en-IN" sz="2000" dirty="0" err="1"/>
              <a:t>subgrid</a:t>
            </a:r>
            <a:r>
              <a:rPr lang="en-IN" sz="2000" dirty="0"/>
              <a:t> constraints</a:t>
            </a:r>
          </a:p>
          <a:p>
            <a:endParaRPr lang="en-IN" sz="20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68410B-BCDE-C84E-52FF-8E1CC22612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80D13-07B8-4CF5-901F-BD1025D74351}" type="datetime1">
              <a:rPr lang="en-US" smtClean="0"/>
              <a:t>11/4/2025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CE6E0F-A9EE-2542-7F8C-4E2ECB888A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7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35D7BC5-47A1-DD3E-4EE2-055E0BBCA8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2736" y="2061178"/>
            <a:ext cx="3407369" cy="1622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81203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D63ECA-B59E-8742-1165-9911D2A450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0B2EF6-B936-B9EB-24E4-C84A062402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6"/>
            <a:ext cx="12192000" cy="645528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OUTPUT AND RESULTS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9409AF-1BD6-CFDC-B172-AD3D38536A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67326"/>
            <a:ext cx="10515600" cy="4909637"/>
          </a:xfrm>
        </p:spPr>
        <p:txBody>
          <a:bodyPr>
            <a:normAutofit/>
          </a:bodyPr>
          <a:lstStyle/>
          <a:p>
            <a:pPr lvl="0"/>
            <a:endParaRPr lang="en-GB" sz="2000" b="1" dirty="0"/>
          </a:p>
          <a:p>
            <a:pPr lvl="0"/>
            <a:r>
              <a:rPr lang="en-GB" sz="2200" b="1" dirty="0"/>
              <a:t>Results</a:t>
            </a:r>
            <a:endParaRPr lang="en-US" sz="2000" b="1" dirty="0"/>
          </a:p>
          <a:p>
            <a:pPr lvl="1"/>
            <a:r>
              <a:rPr lang="en-US" sz="2000" dirty="0"/>
              <a:t>The program successfully displays a </a:t>
            </a:r>
            <a:r>
              <a:rPr lang="en-US" sz="2000" b="1" dirty="0"/>
              <a:t>9×9 Sudoku grid</a:t>
            </a:r>
            <a:r>
              <a:rPr lang="en-US" sz="2000" dirty="0"/>
              <a:t> with pre-filled and empty cells.</a:t>
            </a:r>
            <a:endParaRPr lang="en-IN" sz="1600" dirty="0"/>
          </a:p>
          <a:p>
            <a:pPr lvl="1"/>
            <a:r>
              <a:rPr lang="en-US" sz="2000" dirty="0"/>
              <a:t>Pre-filled numbers are </a:t>
            </a:r>
            <a:r>
              <a:rPr lang="en-US" sz="2000" b="1" dirty="0" err="1"/>
              <a:t>uneditable</a:t>
            </a:r>
            <a:r>
              <a:rPr lang="en-US" sz="2000" dirty="0"/>
              <a:t>.</a:t>
            </a:r>
            <a:endParaRPr lang="en-IN" sz="1800" dirty="0"/>
          </a:p>
          <a:p>
            <a:pPr lvl="1"/>
            <a:r>
              <a:rPr lang="en-US" sz="2000" dirty="0"/>
              <a:t>Users can enter numbers in empty cells to create custom puzzles.</a:t>
            </a:r>
            <a:endParaRPr lang="en-IN" sz="1800" dirty="0"/>
          </a:p>
          <a:p>
            <a:pPr lvl="1"/>
            <a:r>
              <a:rPr lang="en-US" sz="2000" dirty="0"/>
              <a:t>Clicking </a:t>
            </a:r>
            <a:r>
              <a:rPr lang="en-US" sz="2000" b="1" dirty="0"/>
              <a:t>“Solve Sudoku”</a:t>
            </a:r>
            <a:r>
              <a:rPr lang="en-US" sz="2000" dirty="0"/>
              <a:t> automatically solves the puzzle using </a:t>
            </a:r>
            <a:r>
              <a:rPr lang="en-US" sz="2000" b="1" dirty="0"/>
              <a:t>backtracking</a:t>
            </a:r>
            <a:r>
              <a:rPr lang="en-US" sz="2000" dirty="0"/>
              <a:t>.</a:t>
            </a:r>
            <a:endParaRPr lang="en-IN" sz="1800" dirty="0"/>
          </a:p>
          <a:p>
            <a:pPr lvl="1"/>
            <a:r>
              <a:rPr lang="en-US" sz="2000" dirty="0"/>
              <a:t>The algorithm fills all empty cells correctly, adhering to </a:t>
            </a:r>
            <a:r>
              <a:rPr lang="en-US" sz="2000" b="1" dirty="0"/>
              <a:t>row, column, and 3×3 </a:t>
            </a:r>
            <a:r>
              <a:rPr lang="en-US" sz="2000" b="1" dirty="0" err="1"/>
              <a:t>subgrid</a:t>
            </a:r>
            <a:r>
              <a:rPr lang="en-US" sz="2000" b="1" dirty="0"/>
              <a:t> constraints</a:t>
            </a:r>
            <a:r>
              <a:rPr lang="en-US" sz="2000" dirty="0"/>
              <a:t>.</a:t>
            </a:r>
          </a:p>
          <a:p>
            <a:pPr lvl="1"/>
            <a:r>
              <a:rPr lang="en-US" sz="2000" dirty="0"/>
              <a:t>A </a:t>
            </a:r>
            <a:r>
              <a:rPr lang="en-US" sz="2000" b="1" dirty="0"/>
              <a:t>message box confirms</a:t>
            </a:r>
            <a:r>
              <a:rPr lang="en-US" sz="2000" dirty="0"/>
              <a:t> when the puzzle is successfully solved.</a:t>
            </a:r>
          </a:p>
          <a:p>
            <a:pPr lvl="1"/>
            <a:r>
              <a:rPr lang="en-US" sz="2000" dirty="0"/>
              <a:t>If the puzzle is unsolvable, the program alerts the user with a </a:t>
            </a:r>
            <a:r>
              <a:rPr lang="en-US" sz="2000" b="1" dirty="0"/>
              <a:t>“No solution exists”</a:t>
            </a:r>
            <a:r>
              <a:rPr lang="en-US" sz="2000" dirty="0"/>
              <a:t> message.</a:t>
            </a:r>
            <a:endParaRPr lang="en-IN" sz="1800" dirty="0"/>
          </a:p>
          <a:p>
            <a:pPr lvl="1"/>
            <a:r>
              <a:rPr lang="en-US" sz="2000" dirty="0"/>
              <a:t>The program demonstrates the </a:t>
            </a:r>
            <a:r>
              <a:rPr lang="en-US" sz="2000" b="1" dirty="0"/>
              <a:t>efficiency and reliability of backtracking</a:t>
            </a:r>
            <a:r>
              <a:rPr lang="en-US" sz="2000" dirty="0"/>
              <a:t> for standard 9×9 Sudoku puzzles</a:t>
            </a:r>
            <a:r>
              <a:rPr lang="en-US" sz="1800" dirty="0"/>
              <a:t>.</a:t>
            </a:r>
            <a:endParaRPr lang="en-IN" sz="1800" dirty="0"/>
          </a:p>
          <a:p>
            <a:pPr lvl="1"/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773938-5370-329C-27AB-D82ECB9D71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80D13-07B8-4CF5-901F-BD1025D74351}" type="datetime1">
              <a:rPr lang="en-US" smtClean="0"/>
              <a:t>11/4/2025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A83B3C-8735-B8FC-8D50-B919B3471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33635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AB1F08-ACBA-74D4-21C7-1877C96BEA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CD231F-4F31-F7C1-0756-E5AB668637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6"/>
            <a:ext cx="12192000" cy="645528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OUTPUT AND RESULTS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9BF234-03FB-99B7-1FAD-E73A077F6A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67326"/>
            <a:ext cx="10515600" cy="4909637"/>
          </a:xfrm>
        </p:spPr>
        <p:txBody>
          <a:bodyPr>
            <a:normAutofit/>
          </a:bodyPr>
          <a:lstStyle/>
          <a:p>
            <a:pPr lvl="0"/>
            <a:endParaRPr lang="en-US" sz="2000" b="1" dirty="0"/>
          </a:p>
          <a:p>
            <a:pPr lvl="0"/>
            <a:r>
              <a:rPr lang="en-US" sz="2000" b="1" dirty="0"/>
              <a:t>Future enhancements</a:t>
            </a:r>
            <a:endParaRPr lang="en-US" sz="2000" dirty="0"/>
          </a:p>
          <a:p>
            <a:pPr lvl="2"/>
            <a:r>
              <a:rPr lang="en-US" sz="1400" b="1" dirty="0"/>
              <a:t> </a:t>
            </a:r>
            <a:r>
              <a:rPr lang="en-US" dirty="0"/>
              <a:t>Add a </a:t>
            </a:r>
            <a:r>
              <a:rPr lang="en-US" b="1" dirty="0"/>
              <a:t>hint feature</a:t>
            </a:r>
            <a:r>
              <a:rPr lang="en-US" dirty="0"/>
              <a:t> to suggest possible numbers for empty cells.</a:t>
            </a:r>
          </a:p>
          <a:p>
            <a:pPr lvl="2"/>
            <a:r>
              <a:rPr lang="en-US" dirty="0"/>
              <a:t>Implement </a:t>
            </a:r>
            <a:r>
              <a:rPr lang="en-US" b="1" dirty="0"/>
              <a:t>auto-checking</a:t>
            </a:r>
            <a:r>
              <a:rPr lang="en-US" dirty="0"/>
              <a:t> for incorrect user inputs in real-time.</a:t>
            </a:r>
            <a:endParaRPr lang="en-IN" sz="2400" dirty="0"/>
          </a:p>
          <a:p>
            <a:pPr lvl="2"/>
            <a:r>
              <a:rPr lang="en-US" dirty="0"/>
              <a:t>Include </a:t>
            </a:r>
            <a:r>
              <a:rPr lang="en-US" b="1" dirty="0"/>
              <a:t>different difficulty levels</a:t>
            </a:r>
            <a:r>
              <a:rPr lang="en-US" dirty="0"/>
              <a:t> (easy, medium, hard) by generating puzzles programmatically.</a:t>
            </a:r>
            <a:endParaRPr lang="en-IN" sz="2400" dirty="0"/>
          </a:p>
          <a:p>
            <a:pPr lvl="2"/>
            <a:r>
              <a:rPr lang="en-US" dirty="0"/>
              <a:t>Add </a:t>
            </a:r>
            <a:r>
              <a:rPr lang="en-US" b="1" dirty="0"/>
              <a:t>timer and scoring system</a:t>
            </a:r>
            <a:r>
              <a:rPr lang="en-US" dirty="0"/>
              <a:t> for competitive Sudoku solving.</a:t>
            </a:r>
            <a:endParaRPr lang="en-IN" sz="2400" dirty="0"/>
          </a:p>
          <a:p>
            <a:pPr lvl="2"/>
            <a:r>
              <a:rPr lang="en-US" dirty="0"/>
              <a:t>Incorporate </a:t>
            </a:r>
            <a:r>
              <a:rPr lang="en-US" b="1" dirty="0"/>
              <a:t>color-coded highlights</a:t>
            </a:r>
            <a:r>
              <a:rPr lang="en-US" dirty="0"/>
              <a:t> for conflicts or repeated numbers.</a:t>
            </a:r>
            <a:endParaRPr lang="en-IN" sz="2400" dirty="0"/>
          </a:p>
          <a:p>
            <a:pPr lvl="2"/>
            <a:r>
              <a:rPr lang="en-US" dirty="0"/>
              <a:t>Extend the program to handle </a:t>
            </a:r>
            <a:r>
              <a:rPr lang="en-US" b="1" dirty="0"/>
              <a:t>larger Sudoku grids</a:t>
            </a:r>
            <a:r>
              <a:rPr lang="en-US" dirty="0"/>
              <a:t> (e.g., 16×16).</a:t>
            </a:r>
            <a:endParaRPr lang="en-IN" sz="2400" dirty="0"/>
          </a:p>
          <a:p>
            <a:pPr lvl="2"/>
            <a:r>
              <a:rPr lang="en-US" dirty="0"/>
              <a:t>Integrate a </a:t>
            </a:r>
            <a:r>
              <a:rPr lang="en-US" b="1" dirty="0"/>
              <a:t>puzzle generator</a:t>
            </a:r>
            <a:r>
              <a:rPr lang="en-US" dirty="0"/>
              <a:t> to create random solvable Sudoku puzzles automatically.</a:t>
            </a:r>
            <a:endParaRPr lang="en-IN" sz="2400" dirty="0"/>
          </a:p>
          <a:p>
            <a:pPr lvl="1"/>
            <a:endParaRPr lang="en-GB" sz="2000" b="1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9B2E9B-C1CA-3A86-8D9B-E24009B63C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80D13-07B8-4CF5-901F-BD1025D74351}" type="datetime1">
              <a:rPr lang="en-US" smtClean="0"/>
              <a:t>11/4/2025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D22F1A-313A-2BA7-A778-DA35C0DFD7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48797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DEA9EE-5679-A557-E7BF-0A904D0977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F6077-2697-7116-5A2C-99B8054B7F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6"/>
            <a:ext cx="12192000" cy="645528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REFERENCES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AB1971-AF7F-80EE-26ED-EA8A7E8C7C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67326"/>
            <a:ext cx="10515600" cy="434689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000" b="1" dirty="0"/>
              <a:t> </a:t>
            </a:r>
            <a:r>
              <a:rPr lang="en-IN" sz="2000" dirty="0"/>
              <a:t>[1] S. Russell and P. Norvig, </a:t>
            </a:r>
            <a:r>
              <a:rPr lang="en-IN" sz="2000" i="1" dirty="0"/>
              <a:t>Artificial Intelligence: A Modern Approach</a:t>
            </a:r>
            <a:r>
              <a:rPr lang="en-IN" sz="2000" dirty="0"/>
              <a:t>. Pearson.</a:t>
            </a:r>
          </a:p>
          <a:p>
            <a:pPr marL="0" indent="0">
              <a:buNone/>
            </a:pPr>
            <a:r>
              <a:rPr lang="en-IN" sz="2000" dirty="0"/>
              <a:t>[2] “Sudoku Solver using Backtracking in Python,” </a:t>
            </a:r>
            <a:r>
              <a:rPr lang="en-IN" sz="2000" dirty="0" err="1"/>
              <a:t>GeeksforGeeks</a:t>
            </a:r>
            <a:r>
              <a:rPr lang="en-IN" sz="2000" dirty="0"/>
              <a:t>. [Online]. Available: </a:t>
            </a:r>
            <a:r>
              <a:rPr lang="en-IN" sz="2000" u="sng" dirty="0">
                <a:hlinkClick r:id="rId2"/>
              </a:rPr>
              <a:t>https://www.geeksforgeeks.org/sudoku-backtracking-7/</a:t>
            </a:r>
            <a:endParaRPr lang="en-IN" sz="2000" dirty="0"/>
          </a:p>
          <a:p>
            <a:pPr marL="0" indent="0">
              <a:buNone/>
            </a:pPr>
            <a:r>
              <a:rPr lang="en-IN" sz="2000" dirty="0"/>
              <a:t>[3] “Python Sudoku Solver,” Real Python. [Online]. Available: </a:t>
            </a:r>
            <a:r>
              <a:rPr lang="en-IN" sz="2000" u="sng" dirty="0">
                <a:hlinkClick r:id="rId3"/>
              </a:rPr>
              <a:t>https://realpython.com/python-sudoku-solver/</a:t>
            </a:r>
            <a:endParaRPr lang="en-IN" sz="2000" u="sng" dirty="0"/>
          </a:p>
          <a:p>
            <a:pPr marL="0" indent="0">
              <a:buNone/>
            </a:pPr>
            <a:r>
              <a:rPr lang="en-IN" sz="2000" dirty="0"/>
              <a:t>[4] Python Official Documentation, </a:t>
            </a:r>
            <a:r>
              <a:rPr lang="en-IN" sz="2000" dirty="0" err="1"/>
              <a:t>Tkinter</a:t>
            </a:r>
            <a:r>
              <a:rPr lang="en-IN" sz="2000" dirty="0"/>
              <a:t> Library. [Online]. Available: </a:t>
            </a:r>
            <a:r>
              <a:rPr lang="en-IN" sz="2000" u="sng" dirty="0">
                <a:hlinkClick r:id="rId4"/>
              </a:rPr>
              <a:t>https://docs.python.org/3/library/tkinter.html</a:t>
            </a:r>
            <a:endParaRPr lang="en-IN" sz="2000" dirty="0"/>
          </a:p>
          <a:p>
            <a:pPr marL="0" indent="0">
              <a:buNone/>
            </a:pPr>
            <a:r>
              <a:rPr lang="en-IN" sz="2000" dirty="0"/>
              <a:t>[5] “Solving Sudoku with Backtracking,” Towards Data Science. [Online]. Available: </a:t>
            </a:r>
            <a:r>
              <a:rPr lang="en-IN" sz="2000" u="sng" dirty="0">
                <a:hlinkClick r:id="rId5"/>
              </a:rPr>
              <a:t>https://towardsdatascience.com/solving-sudoku-with-backtracking-196e2f0c31d6</a:t>
            </a:r>
            <a:endParaRPr lang="en-US" sz="20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8721BC-42E2-4822-3086-5AF81F1A37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80D13-07B8-4CF5-901F-BD1025D74351}" type="datetime1">
              <a:rPr lang="en-US" smtClean="0"/>
              <a:t>11/4/2025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D8BC28-15FA-0C88-32FB-88458DEBB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26071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602</TotalTime>
  <Words>1062</Words>
  <Application>Microsoft Office PowerPoint</Application>
  <PresentationFormat>Widescreen</PresentationFormat>
  <Paragraphs>107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Times New Roman</vt:lpstr>
      <vt:lpstr>Office Theme</vt:lpstr>
      <vt:lpstr>DEPARTMENT OF CSE (ARTIFICIAL INTELLIGENCE AND MACHINE LEARNING) ACADEMIC YEAR 2025 - 2026 SEMESTER III ARTIFICIAL INTELLIGENCE LABORATORY  MINI PROJECT REVIEW  SUDOKU SOLVER USING BACKTRACKING ALGORITHM</vt:lpstr>
      <vt:lpstr>PROBLEM STATEMENT</vt:lpstr>
      <vt:lpstr>THEORETICAL BACKGROUND</vt:lpstr>
      <vt:lpstr>THEORETICAL BACKGROUND</vt:lpstr>
      <vt:lpstr>IMPLEMENTATION AND CODE</vt:lpstr>
      <vt:lpstr>OUTPUT AND RESULTS</vt:lpstr>
      <vt:lpstr>OUTPUT AND RESULTS</vt:lpstr>
      <vt:lpstr>OUTPUT AND RESULTS</vt:lpstr>
      <vt:lpstr>OUTPUT AND RESULTS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SANKAR GANESH K</dc:creator>
  <cp:lastModifiedBy>Admin Admin</cp:lastModifiedBy>
  <cp:revision>10</cp:revision>
  <dcterms:created xsi:type="dcterms:W3CDTF">2025-10-18T08:57:34Z</dcterms:created>
  <dcterms:modified xsi:type="dcterms:W3CDTF">2025-11-04T11:59:44Z</dcterms:modified>
</cp:coreProperties>
</file>